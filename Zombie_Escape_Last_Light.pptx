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0" y="502920"/>
            <a:ext cx="5257800" cy="5742432"/>
          </a:xfrm>
          <a:prstGeom prst="roundRect">
            <a:avLst>
              <a:gd name="adj" fmla="val 12000"/>
            </a:avLst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43891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C5F66A"/>
                </a:solidFill>
                <a:latin typeface="Aptos"/>
              </a:rPr>
              <a:t>A SURVIVAL MAZE  /  GAME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52578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0" b="1" i="0">
                <a:solidFill>
                  <a:srgbClr val="F2EBDD"/>
                </a:solidFill>
                <a:latin typeface="Aptos Display"/>
              </a:rPr>
              <a:t>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212848"/>
            <a:ext cx="52578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0" b="1" i="0">
                <a:solidFill>
                  <a:srgbClr val="C5F66A"/>
                </a:solidFill>
                <a:latin typeface="Aptos Display"/>
              </a:rPr>
              <a:t>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spc="90">
                <a:solidFill>
                  <a:srgbClr val="FF9B68"/>
                </a:solidFill>
                <a:latin typeface="Aptos"/>
              </a:rPr>
              <a:t>ZOMBIE ESCAPE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14215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spc="70">
                <a:solidFill>
                  <a:srgbClr val="F2EBDD"/>
                </a:solidFill>
                <a:latin typeface="Aptos"/>
              </a:rPr>
              <a:t>FIND THE SAFE HOUSE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4617720"/>
            <a:ext cx="3154680" cy="0"/>
          </a:xfrm>
          <a:prstGeom prst="line">
            <a:avLst/>
          </a:prstGeom>
          <a:ln w="12700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4828032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B4A9"/>
                </a:solidFill>
                <a:latin typeface="Aptos"/>
              </a:rPr>
              <a:t>One path out. The maze is watching.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25312"/>
            <a:ext cx="53035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728277"/>
                </a:solidFill>
                <a:latin typeface="Aptos"/>
              </a:rPr>
              <a:t>PROCEDURAL MAZES  ·  ROUTE-FINDING  ·  PURSUIT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11696" y="1743178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0657" y="1743178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9618" y="1743178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68580" y="1743178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87541" y="1743178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06503" y="1743178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25464" y="1743178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44426" y="1743178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63387" y="1743178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82349" y="1743178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01310" y="1743178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11696" y="2162140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0657" y="2162140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49618" y="2162140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68580" y="2162140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7541" y="2162140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06503" y="2162140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25464" y="2162140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44426" y="2162140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63387" y="2162140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82349" y="2162140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01310" y="2162140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11696" y="2581101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0657" y="2581101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49618" y="2581101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68580" y="2581101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87541" y="2581101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06503" y="2581101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25464" y="2581101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44426" y="2581101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63387" y="2581101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82349" y="2581101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901310" y="2581101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11696" y="3000063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30657" y="3000063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549618" y="3000063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968580" y="3000063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87541" y="3000063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06503" y="3000063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25464" y="3000063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644426" y="3000063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063387" y="3000063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482349" y="3000063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901310" y="3000063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711696" y="3419024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30657" y="3419024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549618" y="3419024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968580" y="3419024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87541" y="3419024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06503" y="3419024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25464" y="3419024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644426" y="3419024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63387" y="3419024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482349" y="3419024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901310" y="3419024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711696" y="3837986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30657" y="3837986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549618" y="3837986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68580" y="3837986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387541" y="3837986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806503" y="3837986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25464" y="3837986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644426" y="3837986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063387" y="3837986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482349" y="3837986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01310" y="3837986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711696" y="4256947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30657" y="4256947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549618" y="4256947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968580" y="4256947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87541" y="4256947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806503" y="4256947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25464" y="4256947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644426" y="4256947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63387" y="4256947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482349" y="4256947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901310" y="4256947"/>
            <a:ext cx="418961" cy="418961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6711696" y="1743178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711696" y="1743178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130657" y="1743178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7549618" y="1743178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549618" y="1743178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968580" y="1743178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968580" y="1743178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387541" y="1743178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806503" y="1743178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25464" y="1743178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644426" y="1743178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0063387" y="1743178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0063387" y="1743178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0482349" y="1743178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01310" y="1743178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1320272" y="1743178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6711696" y="2162140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6711696" y="2162140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549618" y="2162140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387541" y="2162140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806503" y="2162140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806503" y="2162140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225464" y="2162140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644426" y="2162140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482349" y="2162140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901310" y="2162140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1320272" y="2162140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6711696" y="2581101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130657" y="2581101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549618" y="2581101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968580" y="2581101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225464" y="2581101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644426" y="2581101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0482349" y="2581101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0482349" y="2581101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1320272" y="2581101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6711696" y="3000063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6711696" y="3000063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7130657" y="3000063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7549618" y="3000063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7968580" y="3000063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87541" y="3000063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387541" y="3000063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225464" y="3000063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063387" y="3000063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901310" y="3000063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1320272" y="3000063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6711696" y="3419024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130657" y="3419024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49618" y="3419024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968580" y="3419024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06503" y="3419024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9644426" y="3419024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482349" y="3419024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1320272" y="3419024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6711696" y="3837986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130657" y="3837986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549618" y="3837986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80" y="3837986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7968580" y="3837986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806503" y="3837986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9225464" y="3837986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225464" y="3837986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9644426" y="3837986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482349" y="3837986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901310" y="3837986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1320272" y="3837986"/>
            <a:ext cx="0" cy="41896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6711696" y="4256947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6711696" y="4256947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6711696" y="4675909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7130657" y="4675909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7549618" y="4256947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7549618" y="4675909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7968580" y="4256947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968580" y="4675909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387541" y="4256947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387541" y="4675909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06503" y="4675909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9225464" y="4675909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9644426" y="4675909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063387" y="4256947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063387" y="4675909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482349" y="4675909"/>
            <a:ext cx="41896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901310" y="4256947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1320272" y="4256947"/>
            <a:ext cx="0" cy="418962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901310" y="4675909"/>
            <a:ext cx="418962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6921176" y="1952659"/>
            <a:ext cx="418962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7340138" y="1952659"/>
            <a:ext cx="0" cy="418962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6921176" y="2371621"/>
            <a:ext cx="418962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6921176" y="2371621"/>
            <a:ext cx="0" cy="418961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921176" y="2790582"/>
            <a:ext cx="418962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7340138" y="2790582"/>
            <a:ext cx="418961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7759099" y="2790582"/>
            <a:ext cx="418962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8178061" y="2790582"/>
            <a:ext cx="418961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8597022" y="2790582"/>
            <a:ext cx="418962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015984" y="2371621"/>
            <a:ext cx="0" cy="418961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9015984" y="2371621"/>
            <a:ext cx="418961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9434945" y="2371621"/>
            <a:ext cx="0" cy="418961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9434945" y="2790582"/>
            <a:ext cx="418961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9853906" y="2790582"/>
            <a:ext cx="0" cy="418962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9853906" y="3209544"/>
            <a:ext cx="418962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0272868" y="3209544"/>
            <a:ext cx="0" cy="418961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10272868" y="3628505"/>
            <a:ext cx="418961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10691829" y="3628505"/>
            <a:ext cx="418962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11110791" y="3628505"/>
            <a:ext cx="0" cy="418961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11110791" y="4047466"/>
            <a:ext cx="0" cy="418962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8106837" y="2300397"/>
            <a:ext cx="142446" cy="142446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9782683" y="3557282"/>
            <a:ext cx="142446" cy="142446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0201644" y="2300397"/>
            <a:ext cx="142446" cy="142446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0561951" y="2241743"/>
            <a:ext cx="259756" cy="259756"/>
          </a:xfrm>
          <a:prstGeom prst="ellipse">
            <a:avLst/>
          </a:prstGeom>
          <a:solidFill>
            <a:srgbClr val="F26861"/>
          </a:solidFill>
          <a:ln w="1651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6761971" y="1793454"/>
            <a:ext cx="318410" cy="318410"/>
          </a:xfrm>
          <a:prstGeom prst="ellipse">
            <a:avLst/>
          </a:prstGeom>
          <a:solidFill>
            <a:srgbClr val="C5F66A"/>
          </a:solidFill>
          <a:ln w="1905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A100E"/>
                </a:solidFill>
                <a:latin typeface="Aptos"/>
              </a:rPr>
              <a:t>P</a:t>
            </a:r>
          </a:p>
        </p:txBody>
      </p:sp>
      <p:sp>
        <p:nvSpPr>
          <p:cNvPr id="200" name="Oval 199"/>
          <p:cNvSpPr/>
          <p:nvPr/>
        </p:nvSpPr>
        <p:spPr>
          <a:xfrm>
            <a:off x="10951585" y="4307223"/>
            <a:ext cx="318410" cy="318410"/>
          </a:xfrm>
          <a:prstGeom prst="ellipse">
            <a:avLst/>
          </a:prstGeom>
          <a:solidFill>
            <a:srgbClr val="FF9B68"/>
          </a:solidFill>
          <a:ln w="1905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A100E"/>
                </a:solidFill>
                <a:latin typeface="Aptos"/>
              </a:rPr>
              <a:t>H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803136" y="576986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C5F66A"/>
                </a:solidFill>
                <a:latin typeface="Aptos"/>
              </a:rPr>
              <a:t>P  PLAYER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366760" y="576986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FF9B68"/>
                </a:solidFill>
                <a:latin typeface="Aptos"/>
              </a:rPr>
              <a:t>H  SAFE HOUSE</a:t>
            </a:r>
          </a:p>
        </p:txBody>
      </p:sp>
      <p:sp>
        <p:nvSpPr>
          <p:cNvPr id="203" name="Oval 202"/>
          <p:cNvSpPr/>
          <p:nvPr/>
        </p:nvSpPr>
        <p:spPr>
          <a:xfrm>
            <a:off x="10204704" y="5824728"/>
            <a:ext cx="91440" cy="91440"/>
          </a:xfrm>
          <a:prstGeom prst="ellipse">
            <a:avLst/>
          </a:prstGeom>
          <a:solidFill>
            <a:srgbClr val="F26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369296" y="576986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F26861"/>
                </a:solidFill>
                <a:latin typeface="Aptos"/>
              </a:rPr>
              <a:t>ZOMBIE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2827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C5F66A"/>
                </a:solidFill>
                <a:latin typeface="Aptos"/>
              </a:rPr>
              <a:t>01  /  THE PREMISE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EBDD"/>
                </a:solidFill>
                <a:latin typeface="Aptos Display"/>
              </a:rPr>
              <a:t>THE WORLD IS GONE. THE EXIT ISN'T.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62456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4A9"/>
                </a:solidFill>
                <a:latin typeface="Aptos"/>
              </a:rPr>
              <a:t>A turn-based survival puzzle where route choice matters as much as the next move.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3657600" cy="4069080"/>
          </a:xfrm>
          <a:prstGeom prst="roundRect">
            <a:avLst>
              <a:gd name="adj" fmla="val 12000"/>
            </a:avLst>
          </a:prstGeom>
          <a:solidFill>
            <a:srgbClr val="1D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C5F66A"/>
                </a:solidFill>
                <a:latin typeface="Aptos"/>
              </a:rPr>
              <a:t>THE 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971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EBDD"/>
                </a:solidFill>
                <a:latin typeface="Aptos Display"/>
              </a:rPr>
              <a:t>Find the house.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45536"/>
            <a:ext cx="29260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9B68"/>
                </a:solidFill>
                <a:latin typeface="Aptos Display"/>
              </a:rPr>
              <a:t>Before the horde finds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005072"/>
            <a:ext cx="28346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4A9"/>
                </a:solidFill>
                <a:latin typeface="Aptos"/>
              </a:rPr>
              <a:t>A fresh labyrinth. A visible safe route. A few bad choices between you and shelter.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16636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70">
                <a:solidFill>
                  <a:srgbClr val="728277"/>
                </a:solidFill>
                <a:latin typeface="Aptos"/>
              </a:rP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54406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EBDD"/>
                </a:solidFill>
                <a:latin typeface="Aptos"/>
              </a:rPr>
              <a:t>Read the maze. Pick your solver. Stay one turn ahead.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3712" y="1965960"/>
            <a:ext cx="3657600" cy="1069848"/>
          </a:xfrm>
          <a:prstGeom prst="roundRect">
            <a:avLst>
              <a:gd name="adj" fmla="val 12000"/>
            </a:avLst>
          </a:prstGeom>
          <a:solidFill>
            <a:srgbClr val="18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91456" y="2212848"/>
            <a:ext cx="512064" cy="512064"/>
          </a:xfrm>
          <a:prstGeom prst="ellipse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21284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100E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1226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55">
                <a:solidFill>
                  <a:srgbClr val="F2EBDD"/>
                </a:solidFill>
                <a:latin typeface="Aptos"/>
              </a:rPr>
              <a:t>SCOUT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450591"/>
            <a:ext cx="23591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Study walls, bombs and the safe route.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3712" y="3310128"/>
            <a:ext cx="3657600" cy="1069848"/>
          </a:xfrm>
          <a:prstGeom prst="roundRect">
            <a:avLst>
              <a:gd name="adj" fmla="val 12000"/>
            </a:avLst>
          </a:prstGeom>
          <a:solidFill>
            <a:srgbClr val="18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91456" y="3557016"/>
            <a:ext cx="512064" cy="512064"/>
          </a:xfrm>
          <a:prstGeom prst="ellipse">
            <a:avLst/>
          </a:prstGeom>
          <a:solidFill>
            <a:srgbClr val="71B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91456" y="3557016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100E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456432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55">
                <a:solidFill>
                  <a:srgbClr val="F2EBDD"/>
                </a:solidFill>
                <a:latin typeface="Aptos"/>
              </a:rPr>
              <a:t>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794760"/>
            <a:ext cx="23591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Choose A*, BFS or DFS. Start the run.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4654296"/>
            <a:ext cx="3657600" cy="1069848"/>
          </a:xfrm>
          <a:prstGeom prst="roundRect">
            <a:avLst>
              <a:gd name="adj" fmla="val 12000"/>
            </a:avLst>
          </a:prstGeom>
          <a:solidFill>
            <a:srgbClr val="18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91456" y="4901183"/>
            <a:ext cx="512064" cy="512064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4901183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100E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800600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55">
                <a:solidFill>
                  <a:srgbClr val="F2EBDD"/>
                </a:solidFill>
                <a:latin typeface="Aptos"/>
              </a:rPr>
              <a:t>SURVIVE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138928"/>
            <a:ext cx="23591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Move—or wait. Zombies answer each turn.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7072" y="1965960"/>
            <a:ext cx="2953512" cy="3758184"/>
          </a:xfrm>
          <a:prstGeom prst="roundRect">
            <a:avLst>
              <a:gd name="adj" fmla="val 12000"/>
            </a:avLst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87968" y="3093997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9942" y="3093997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11917" y="3093997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23891" y="3093997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35866" y="3093997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47840" y="3093997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59815" y="3093997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371789" y="3093997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583764" y="3093997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795738" y="3093997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007713" y="3093997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87968" y="3305971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9942" y="3305971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11917" y="3305971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23891" y="3305971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735866" y="3305971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947840" y="3305971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59815" y="3305971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371789" y="3305971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583764" y="3305971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795738" y="3305971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007713" y="3305971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87968" y="3517946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99942" y="3517946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11917" y="3517946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23891" y="3517946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35866" y="3517946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47840" y="3517946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159815" y="3517946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371789" y="3517946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583764" y="3517946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95738" y="3517946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07713" y="3517946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87968" y="3729920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99942" y="3729920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311917" y="3729920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523891" y="3729920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35866" y="3729920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47840" y="3729920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159815" y="3729920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371789" y="3729920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83764" y="3729920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795738" y="3729920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007713" y="3729920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887968" y="3941895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099942" y="3941895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311917" y="3941895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23891" y="3941895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735866" y="3941895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947840" y="3941895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159815" y="3941895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371789" y="3941895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583764" y="3941895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95738" y="3941895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007713" y="3941895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887968" y="4153869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099942" y="4153869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11917" y="4153869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523891" y="4153869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735866" y="4153869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947840" y="4153869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159815" y="4153869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371789" y="4153869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583764" y="4153869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795738" y="4153869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007713" y="4153869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887968" y="4365844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99942" y="4365844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311917" y="4365844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523891" y="4365844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735866" y="4365844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947840" y="4365844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159815" y="4365844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371789" y="4365844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583764" y="4365844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795738" y="4365844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1007713" y="4365844"/>
            <a:ext cx="211974" cy="211974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8887968" y="3093997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887968" y="3093997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099942" y="3093997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311917" y="3093997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523891" y="3093997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735866" y="3093997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947840" y="3093997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159815" y="3093997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159815" y="3093997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0371789" y="3093997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583764" y="3093997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0795738" y="3093997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1007713" y="3093997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1219688" y="3093997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8887968" y="3305971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8887968" y="3305971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099942" y="3305971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099942" y="3305971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311917" y="3305971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947840" y="3305971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0159815" y="3305971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371789" y="3305971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583764" y="3305971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795738" y="3305971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1007713" y="3305971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1219688" y="3305971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887968" y="3517946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9311917" y="3517946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523891" y="3517946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735866" y="3517946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9947840" y="3517946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159815" y="3517946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159815" y="3517946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371789" y="3517946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583764" y="3517946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795738" y="3517946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0795738" y="3517946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1219688" y="3517946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8887968" y="3729920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099942" y="3729920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9099942" y="3729920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9311917" y="3729920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9735866" y="3729920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9947840" y="3729920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371789" y="3729920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583764" y="3729920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795738" y="3729920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1007713" y="3729920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1219688" y="3729920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887968" y="3941895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9311917" y="3941895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523891" y="3941895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9947840" y="3941895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159815" y="3941895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371789" y="3941895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583764" y="3941895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1007713" y="3941895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1219688" y="3941895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887968" y="4153869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9099942" y="4153869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9311917" y="4153869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9523891" y="4153869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9735866" y="4153869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9735866" y="4153869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159815" y="4153869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371789" y="4153869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583764" y="4153869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1007713" y="4153869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1219688" y="4153869"/>
            <a:ext cx="0" cy="211975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8887968" y="4365844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8887968" y="4577818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9099942" y="4365844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9099942" y="4577818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9311917" y="4365844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9311917" y="4577818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9523891" y="4365844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9523891" y="4577818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9735866" y="4577818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9947840" y="4577818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0159815" y="4365844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10159815" y="4577818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0371789" y="4365844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10371789" y="4577818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10583764" y="4577818"/>
            <a:ext cx="211974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0795738" y="4365844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10795738" y="4577818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11219688" y="4365844"/>
            <a:ext cx="0" cy="211974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11007713" y="4577818"/>
            <a:ext cx="211975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8993955" y="3199984"/>
            <a:ext cx="211974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9205929" y="3199984"/>
            <a:ext cx="211975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9417904" y="3199984"/>
            <a:ext cx="211974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9629878" y="3199984"/>
            <a:ext cx="211975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9841853" y="3199984"/>
            <a:ext cx="211975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10053828" y="3199984"/>
            <a:ext cx="0" cy="211974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10053828" y="3411958"/>
            <a:ext cx="211974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10265802" y="3411958"/>
            <a:ext cx="211975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10477777" y="3411958"/>
            <a:ext cx="0" cy="211975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477777" y="3623933"/>
            <a:ext cx="211974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689751" y="3623933"/>
            <a:ext cx="0" cy="211975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689751" y="3835908"/>
            <a:ext cx="0" cy="211974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89751" y="4047882"/>
            <a:ext cx="211975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901726" y="4047882"/>
            <a:ext cx="0" cy="211975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H="1">
            <a:off x="10689751" y="4259857"/>
            <a:ext cx="211975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689751" y="4259857"/>
            <a:ext cx="0" cy="211974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689751" y="4471831"/>
            <a:ext cx="211975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901726" y="4471831"/>
            <a:ext cx="211974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Oval 211"/>
          <p:cNvSpPr/>
          <p:nvPr/>
        </p:nvSpPr>
        <p:spPr>
          <a:xfrm>
            <a:off x="9593843" y="3375923"/>
            <a:ext cx="72071" cy="72071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0441741" y="4011846"/>
            <a:ext cx="72071" cy="72071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0653715" y="3375923"/>
            <a:ext cx="72071" cy="72071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0836014" y="3346246"/>
            <a:ext cx="131424" cy="131424"/>
          </a:xfrm>
          <a:prstGeom prst="ellipse">
            <a:avLst/>
          </a:prstGeom>
          <a:solidFill>
            <a:srgbClr val="F26861"/>
          </a:solidFill>
          <a:ln w="1651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8913404" y="3119434"/>
            <a:ext cx="161100" cy="161100"/>
          </a:xfrm>
          <a:prstGeom prst="ellipse">
            <a:avLst/>
          </a:prstGeom>
          <a:solidFill>
            <a:srgbClr val="C5F66A"/>
          </a:solidFill>
          <a:ln w="1905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A100E"/>
                </a:solidFill>
                <a:latin typeface="Aptos"/>
              </a:rPr>
              <a:t>P</a:t>
            </a:r>
          </a:p>
        </p:txBody>
      </p:sp>
      <p:sp>
        <p:nvSpPr>
          <p:cNvPr id="217" name="Oval 216"/>
          <p:cNvSpPr/>
          <p:nvPr/>
        </p:nvSpPr>
        <p:spPr>
          <a:xfrm>
            <a:off x="11033150" y="4391281"/>
            <a:ext cx="161100" cy="161100"/>
          </a:xfrm>
          <a:prstGeom prst="ellipse">
            <a:avLst/>
          </a:prstGeom>
          <a:solidFill>
            <a:srgbClr val="FF9B68"/>
          </a:solidFill>
          <a:ln w="1905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A100E"/>
                </a:solidFill>
                <a:latin typeface="Aptos"/>
              </a:rPr>
              <a:t>H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8887968" y="5321808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C5F66A"/>
                </a:solidFill>
                <a:latin typeface="Aptos"/>
              </a:rPr>
              <a:t>FIVE BIOMES. ONE WAY HOME.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TextBox 219"/>
          <p:cNvSpPr txBox="1"/>
          <p:nvPr/>
        </p:nvSpPr>
        <p:spPr>
          <a:xfrm>
            <a:off x="585216" y="651052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728277"/>
                </a:solidFill>
                <a:latin typeface="Aptos"/>
              </a:rPr>
              <a:t>LAST LIGHT   /   ZOMBIE ESCAPE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634472" y="6501384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28277"/>
                </a:solidFill>
                <a:latin typeface="Aptos"/>
              </a:rPr>
              <a:t>02   /  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C5F66A"/>
                </a:solidFill>
                <a:latin typeface="Aptos"/>
              </a:rPr>
              <a:t>02  /  LEVEL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EBDD"/>
                </a:solidFill>
                <a:latin typeface="Aptos Display"/>
              </a:rPr>
              <a:t>THE MAZE IS BUILT TO MAKE YOU CHOOSE.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62456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4A9"/>
                </a:solidFill>
                <a:latin typeface="Aptos"/>
              </a:rPr>
              <a:t>Procedural generation creates a fresh layout while deliberately preserving more than one safe way through.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5989320" cy="4251960"/>
          </a:xfrm>
          <a:prstGeom prst="roundRect">
            <a:avLst>
              <a:gd name="adj" fmla="val 12000"/>
            </a:avLst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7602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03188" y="227602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91976" y="227602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80765" y="227602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69553" y="227602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8341" y="227602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7130" y="227602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5918" y="227602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24706" y="227602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13495" y="227602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02283" y="227602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764813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03188" y="2764813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91976" y="2764813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80765" y="2764813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69553" y="2764813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58341" y="2764813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7130" y="2764813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5918" y="2764813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24706" y="2764813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13495" y="2764813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02283" y="2764813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3253601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03188" y="3253601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91976" y="3253601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80765" y="3253601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69553" y="3253601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58341" y="3253601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7130" y="3253601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35918" y="3253601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24706" y="3253601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13495" y="3253601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02283" y="3253601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" y="3742389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03188" y="3742389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91976" y="3742389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380765" y="3742389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69553" y="3742389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58341" y="3742389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7130" y="3742389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35918" y="3742389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24706" y="3742389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13495" y="3742389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02283" y="3742389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" y="4231178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403188" y="4231178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91976" y="4231178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80765" y="4231178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69553" y="4231178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58341" y="4231178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847130" y="4231178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35918" y="4231178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24706" y="4231178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313495" y="4231178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02283" y="4231178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4400" y="4719966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403188" y="4719966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891976" y="4719966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380765" y="4719966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869553" y="4719966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358341" y="4719966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847130" y="4719966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35918" y="4719966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824706" y="4719966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13495" y="4719966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02283" y="4719966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14400" y="520875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403188" y="520875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91976" y="520875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380765" y="520875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869553" y="520875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358341" y="520875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847130" y="520875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335918" y="520875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824706" y="520875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313495" y="520875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802283" y="5208754"/>
            <a:ext cx="488788" cy="488788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914400" y="2276024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14400" y="2276024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403188" y="2276024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891976" y="2276024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380765" y="2276024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380765" y="2276024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869553" y="2276024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358341" y="2276024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847130" y="2276024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335918" y="2276024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335918" y="2276024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824706" y="2276024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313495" y="2276024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802283" y="2276024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291072" y="2276024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14400" y="2764813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4400" y="2764813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403188" y="2764813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380765" y="2764813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869553" y="2764813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869553" y="2764813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358341" y="2764813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847130" y="2764813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4335918" y="2764813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6291072" y="2764813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14400" y="3253601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403188" y="3253601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403188" y="3253601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2869553" y="3253601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358341" y="3253601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847130" y="3253601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4335918" y="3253601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4335918" y="3253601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4824706" y="3253601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5313495" y="3253601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291072" y="3253601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14400" y="3742389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403188" y="3742389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891976" y="3742389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2380765" y="3742389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2869553" y="3742389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358341" y="3742389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847130" y="3742389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5313495" y="3742389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6291072" y="3742389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14400" y="4231178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403188" y="4231178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403188" y="4231178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891976" y="4231178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380765" y="4231178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3358341" y="4231178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3847130" y="4231178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335918" y="4231178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824706" y="4231178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5313495" y="4231178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5802283" y="4231178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6291072" y="4231178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914400" y="4719966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403188" y="4719966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380765" y="4719966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2380765" y="4719966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358341" y="4719966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847130" y="4719966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824706" y="4719966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5313495" y="4719966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6291072" y="4719966"/>
            <a:ext cx="0" cy="488788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914400" y="5208754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914400" y="5697543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403188" y="5208754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403188" y="5697543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891976" y="5208754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891976" y="5697543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2380765" y="5697543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2869553" y="5208754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2869553" y="5208754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2869553" y="5697543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3358341" y="5697543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3847130" y="5208754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3847130" y="5697543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335918" y="5697543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24706" y="5697543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5313495" y="5697543"/>
            <a:ext cx="48878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5802283" y="5208754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6291072" y="5208754"/>
            <a:ext cx="0" cy="488789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5802283" y="5697543"/>
            <a:ext cx="488789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158794" y="2520418"/>
            <a:ext cx="488788" cy="0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647582" y="2520418"/>
            <a:ext cx="488788" cy="0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2136370" y="2520418"/>
            <a:ext cx="0" cy="488789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2136370" y="3009207"/>
            <a:ext cx="0" cy="488788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2136370" y="3497995"/>
            <a:ext cx="488789" cy="0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2625159" y="3497995"/>
            <a:ext cx="0" cy="488789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2625159" y="3986784"/>
            <a:ext cx="0" cy="488788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2625159" y="4475572"/>
            <a:ext cx="488788" cy="0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3113947" y="4475572"/>
            <a:ext cx="0" cy="488788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3113947" y="4964360"/>
            <a:ext cx="488789" cy="0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3602736" y="4964360"/>
            <a:ext cx="488788" cy="0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4091524" y="4964360"/>
            <a:ext cx="488788" cy="0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4580312" y="4964360"/>
            <a:ext cx="0" cy="488789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4580312" y="5453149"/>
            <a:ext cx="488789" cy="0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5069101" y="5453149"/>
            <a:ext cx="488788" cy="0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5557889" y="5453149"/>
            <a:ext cx="488788" cy="0"/>
          </a:xfrm>
          <a:prstGeom prst="line">
            <a:avLst/>
          </a:prstGeom>
          <a:ln w="27154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Oval 184"/>
          <p:cNvSpPr/>
          <p:nvPr/>
        </p:nvSpPr>
        <p:spPr>
          <a:xfrm>
            <a:off x="2542065" y="2926113"/>
            <a:ext cx="166188" cy="166188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4497218" y="4392478"/>
            <a:ext cx="166188" cy="166188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4986007" y="2926113"/>
            <a:ext cx="166188" cy="166188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5406365" y="2857682"/>
            <a:ext cx="303048" cy="303048"/>
          </a:xfrm>
          <a:prstGeom prst="ellipse">
            <a:avLst/>
          </a:prstGeom>
          <a:solidFill>
            <a:srgbClr val="F26861"/>
          </a:solidFill>
          <a:ln w="1651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973054" y="2334679"/>
            <a:ext cx="371479" cy="371479"/>
          </a:xfrm>
          <a:prstGeom prst="ellipse">
            <a:avLst/>
          </a:prstGeom>
          <a:solidFill>
            <a:srgbClr val="C5F66A"/>
          </a:solidFill>
          <a:ln w="1905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A100E"/>
                </a:solidFill>
                <a:latin typeface="Aptos"/>
              </a:rPr>
              <a:t>P</a:t>
            </a:r>
          </a:p>
        </p:txBody>
      </p:sp>
      <p:sp>
        <p:nvSpPr>
          <p:cNvPr id="190" name="Oval 189"/>
          <p:cNvSpPr/>
          <p:nvPr/>
        </p:nvSpPr>
        <p:spPr>
          <a:xfrm>
            <a:off x="5860938" y="5267409"/>
            <a:ext cx="371479" cy="371479"/>
          </a:xfrm>
          <a:prstGeom prst="ellipse">
            <a:avLst/>
          </a:prstGeom>
          <a:solidFill>
            <a:srgbClr val="FF9B68"/>
          </a:solidFill>
          <a:ln w="1905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A100E"/>
                </a:solidFill>
                <a:latin typeface="Aptos"/>
              </a:rPr>
              <a:t>H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87552" y="588873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C5F66A"/>
                </a:solidFill>
                <a:latin typeface="Aptos"/>
              </a:rPr>
              <a:t>ROUTE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865376" y="5888736"/>
            <a:ext cx="7498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FF9B68"/>
                </a:solidFill>
                <a:latin typeface="Aptos"/>
              </a:rPr>
              <a:t>BOMB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743200" y="588873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0">
                <a:solidFill>
                  <a:srgbClr val="F26861"/>
                </a:solidFill>
                <a:latin typeface="Aptos"/>
              </a:rPr>
              <a:t>PURSUER</a:t>
            </a:r>
          </a:p>
        </p:txBody>
      </p:sp>
      <p:sp>
        <p:nvSpPr>
          <p:cNvPr id="194" name="Oval 193"/>
          <p:cNvSpPr/>
          <p:nvPr/>
        </p:nvSpPr>
        <p:spPr>
          <a:xfrm>
            <a:off x="7040880" y="2112264"/>
            <a:ext cx="109728" cy="109728"/>
          </a:xfrm>
          <a:prstGeom prst="ellipse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269480" y="20299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EBDD"/>
                </a:solidFill>
                <a:latin typeface="Aptos"/>
              </a:rPr>
              <a:t>A maze with structure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269480" y="2340864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A seeded generator builds connected layouts and scales the map as levels rise.</a:t>
            </a:r>
          </a:p>
        </p:txBody>
      </p:sp>
      <p:sp>
        <p:nvSpPr>
          <p:cNvPr id="197" name="Oval 196"/>
          <p:cNvSpPr/>
          <p:nvPr/>
        </p:nvSpPr>
        <p:spPr>
          <a:xfrm>
            <a:off x="7040880" y="3300984"/>
            <a:ext cx="109728" cy="109728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269480" y="32186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EBDD"/>
                </a:solidFill>
                <a:latin typeface="Aptos"/>
              </a:rPr>
              <a:t>A detour with teeth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269480" y="3529584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Bombs sit on alternate-route tiles. The route planner avoids them.</a:t>
            </a:r>
          </a:p>
        </p:txBody>
      </p:sp>
      <p:sp>
        <p:nvSpPr>
          <p:cNvPr id="200" name="Oval 199"/>
          <p:cNvSpPr/>
          <p:nvPr/>
        </p:nvSpPr>
        <p:spPr>
          <a:xfrm>
            <a:off x="7040880" y="4489704"/>
            <a:ext cx="109728" cy="109728"/>
          </a:xfrm>
          <a:prstGeom prst="ellipse">
            <a:avLst/>
          </a:prstGeom>
          <a:solidFill>
            <a:srgbClr val="71B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269480" y="44074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EBDD"/>
                </a:solidFill>
                <a:latin typeface="Aptos"/>
              </a:rPr>
              <a:t>A route you can inspect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269480" y="4718304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The selected algorithm calculates a route; it is recalculated as zombies move.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585216" y="651052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728277"/>
                </a:solidFill>
                <a:latin typeface="Aptos"/>
              </a:rPr>
              <a:t>LAST LIGHT   /   ZOMBIE ESCAPE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634472" y="6501384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28277"/>
                </a:solidFill>
                <a:latin typeface="Aptos"/>
              </a:rPr>
              <a:t>03   /  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C5F66A"/>
                </a:solidFill>
                <a:latin typeface="Aptos"/>
              </a:rPr>
              <a:t>03  /  PATHFINDING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EBDD"/>
                </a:solidFill>
                <a:latin typeface="Aptos Display"/>
              </a:rPr>
              <a:t>THREE ALGORITHMS. THREE WAYS TO THINK.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62456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4A9"/>
                </a:solidFill>
                <a:latin typeface="Aptos"/>
              </a:rPr>
              <a:t>Pick how your escape is calculated; the same maze becomes a different planning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3520440" cy="3337560"/>
          </a:xfrm>
          <a:prstGeom prst="roundRect">
            <a:avLst>
              <a:gd name="adj" fmla="val 12000"/>
            </a:avLst>
          </a:prstGeom>
          <a:solidFill>
            <a:srgbClr val="18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331720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C5F66A"/>
                </a:solidFill>
                <a:latin typeface="Aptos"/>
              </a:rPr>
              <a:t>OPTION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88920"/>
            <a:ext cx="9144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C5F66A"/>
                </a:solidFill>
                <a:latin typeface="Aptos Display"/>
              </a:rPr>
              <a:t>A*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871216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55">
                <a:solidFill>
                  <a:srgbClr val="F2EBDD"/>
                </a:solidFill>
                <a:latin typeface="Aptos"/>
              </a:rPr>
              <a:t>A 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82112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55">
                <a:solidFill>
                  <a:srgbClr val="C5F66A"/>
                </a:solidFill>
                <a:latin typeface="Aptos"/>
              </a:rPr>
              <a:t>GOAL-DIRECTED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6968" y="3657600"/>
            <a:ext cx="2980943" cy="0"/>
          </a:xfrm>
          <a:prstGeom prst="line">
            <a:avLst/>
          </a:prstGeom>
          <a:ln w="10160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6112" y="3904487"/>
            <a:ext cx="292608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4A9"/>
                </a:solidFill>
                <a:latin typeface="Aptos"/>
              </a:rPr>
              <a:t>Uses distance-to-goal to guide the search. Efficiently finds a shortest path on this unweighted maze.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965192"/>
            <a:ext cx="69494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 spc="35">
                <a:solidFill>
                  <a:srgbClr val="728277"/>
                </a:solidFill>
                <a:latin typeface="Aptos"/>
              </a:rPr>
              <a:t>PLAYER</a:t>
            </a:r>
          </a:p>
        </p:txBody>
      </p:sp>
      <p:sp>
        <p:nvSpPr>
          <p:cNvPr id="14" name="Oval 13"/>
          <p:cNvSpPr/>
          <p:nvPr/>
        </p:nvSpPr>
        <p:spPr>
          <a:xfrm>
            <a:off x="1673352" y="4965192"/>
            <a:ext cx="118872" cy="118872"/>
          </a:xfrm>
          <a:prstGeom prst="ellipse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65960" y="4965192"/>
            <a:ext cx="118872" cy="118872"/>
          </a:xfrm>
          <a:prstGeom prst="ellipse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58568" y="4965192"/>
            <a:ext cx="118872" cy="118872"/>
          </a:xfrm>
          <a:prstGeom prst="ellipse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51176" y="4965192"/>
            <a:ext cx="118872" cy="118872"/>
          </a:xfrm>
          <a:prstGeom prst="ellipse">
            <a:avLst/>
          </a:prstGeom>
          <a:solidFill>
            <a:srgbClr val="32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43784" y="4965192"/>
            <a:ext cx="118872" cy="118872"/>
          </a:xfrm>
          <a:prstGeom prst="ellipse">
            <a:avLst/>
          </a:prstGeom>
          <a:solidFill>
            <a:srgbClr val="32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36392" y="4965192"/>
            <a:ext cx="118872" cy="118872"/>
          </a:xfrm>
          <a:prstGeom prst="ellipse">
            <a:avLst/>
          </a:prstGeom>
          <a:solidFill>
            <a:srgbClr val="32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5576" y="4956048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 spc="35">
                <a:solidFill>
                  <a:srgbClr val="728277"/>
                </a:solidFill>
                <a:latin typeface="Aptos"/>
              </a:rPr>
              <a:t>EXIT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2057400"/>
            <a:ext cx="3520440" cy="3337560"/>
          </a:xfrm>
          <a:prstGeom prst="roundRect">
            <a:avLst>
              <a:gd name="adj" fmla="val 12000"/>
            </a:avLst>
          </a:prstGeom>
          <a:solidFill>
            <a:srgbClr val="18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4" y="2331720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71BAE8"/>
                </a:solidFill>
                <a:latin typeface="Aptos"/>
              </a:rPr>
              <a:t>OPTION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2788920"/>
            <a:ext cx="9144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71BAE8"/>
                </a:solidFill>
                <a:latin typeface="Aptos Display"/>
              </a:rPr>
              <a:t>BFS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871216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55">
                <a:solidFill>
                  <a:srgbClr val="F2EBDD"/>
                </a:solidFill>
                <a:latin typeface="Aptos"/>
              </a:rPr>
              <a:t>BREADTH-FIRST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182112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55">
                <a:solidFill>
                  <a:srgbClr val="71BAE8"/>
                </a:solidFill>
                <a:latin typeface="Aptos"/>
              </a:rPr>
              <a:t>LAYER BY LAYER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81728" y="3657600"/>
            <a:ext cx="2980943" cy="0"/>
          </a:xfrm>
          <a:prstGeom prst="line">
            <a:avLst/>
          </a:prstGeom>
          <a:ln w="10160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90872" y="3904487"/>
            <a:ext cx="292608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4A9"/>
                </a:solidFill>
                <a:latin typeface="Aptos"/>
              </a:rPr>
              <a:t>Explores outward evenly. Finds a shortest path when every step has equal cost.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4965192"/>
            <a:ext cx="69494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 spc="35">
                <a:solidFill>
                  <a:srgbClr val="728277"/>
                </a:solidFill>
                <a:latin typeface="Aptos"/>
              </a:rPr>
              <a:t>PLAYER</a:t>
            </a:r>
          </a:p>
        </p:txBody>
      </p:sp>
      <p:sp>
        <p:nvSpPr>
          <p:cNvPr id="29" name="Oval 28"/>
          <p:cNvSpPr/>
          <p:nvPr/>
        </p:nvSpPr>
        <p:spPr>
          <a:xfrm>
            <a:off x="5468112" y="4965192"/>
            <a:ext cx="118872" cy="118872"/>
          </a:xfrm>
          <a:prstGeom prst="ellipse">
            <a:avLst/>
          </a:prstGeom>
          <a:solidFill>
            <a:srgbClr val="71B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60720" y="4965192"/>
            <a:ext cx="118872" cy="118872"/>
          </a:xfrm>
          <a:prstGeom prst="ellipse">
            <a:avLst/>
          </a:prstGeom>
          <a:solidFill>
            <a:srgbClr val="71B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53328" y="4965192"/>
            <a:ext cx="118872" cy="118872"/>
          </a:xfrm>
          <a:prstGeom prst="ellipse">
            <a:avLst/>
          </a:prstGeom>
          <a:solidFill>
            <a:srgbClr val="71B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45936" y="4965192"/>
            <a:ext cx="118872" cy="118872"/>
          </a:xfrm>
          <a:prstGeom prst="ellipse">
            <a:avLst/>
          </a:prstGeom>
          <a:solidFill>
            <a:srgbClr val="71B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38544" y="4965192"/>
            <a:ext cx="118872" cy="118872"/>
          </a:xfrm>
          <a:prstGeom prst="ellipse">
            <a:avLst/>
          </a:prstGeom>
          <a:solidFill>
            <a:srgbClr val="32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931152" y="4965192"/>
            <a:ext cx="118872" cy="118872"/>
          </a:xfrm>
          <a:prstGeom prst="ellipse">
            <a:avLst/>
          </a:prstGeom>
          <a:solidFill>
            <a:srgbClr val="32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4956048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 spc="35">
                <a:solidFill>
                  <a:srgbClr val="728277"/>
                </a:solidFill>
                <a:latin typeface="Aptos"/>
              </a:rPr>
              <a:t>EXIT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1312" y="2057400"/>
            <a:ext cx="3520440" cy="3337560"/>
          </a:xfrm>
          <a:prstGeom prst="roundRect">
            <a:avLst>
              <a:gd name="adj" fmla="val 12000"/>
            </a:avLst>
          </a:prstGeom>
          <a:solidFill>
            <a:srgbClr val="18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7344" y="2331720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FF9B68"/>
                </a:solidFill>
                <a:latin typeface="Aptos"/>
              </a:rPr>
              <a:t>OPTION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2788920"/>
            <a:ext cx="91440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9B68"/>
                </a:solidFill>
                <a:latin typeface="Aptos Display"/>
              </a:rPr>
              <a:t>DFS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2871216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55">
                <a:solidFill>
                  <a:srgbClr val="F2EBDD"/>
                </a:solidFill>
                <a:latin typeface="Aptos"/>
              </a:rPr>
              <a:t>DEPTH-FIRST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3182112"/>
            <a:ext cx="21214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55">
                <a:solidFill>
                  <a:srgbClr val="FF9B68"/>
                </a:solidFill>
                <a:latin typeface="Aptos"/>
              </a:rPr>
              <a:t>FOLLOW A BRANCH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476488" y="3657600"/>
            <a:ext cx="2980944" cy="0"/>
          </a:xfrm>
          <a:prstGeom prst="line">
            <a:avLst/>
          </a:prstGeom>
          <a:ln w="10160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485632" y="3904487"/>
            <a:ext cx="292608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4A9"/>
                </a:solidFill>
                <a:latin typeface="Aptos"/>
              </a:rPr>
              <a:t>Commits down a branch, then backtracks. Can find a route, but not necessarily the shortest.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4965192"/>
            <a:ext cx="69494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 spc="35">
                <a:solidFill>
                  <a:srgbClr val="728277"/>
                </a:solidFill>
                <a:latin typeface="Aptos"/>
              </a:rPr>
              <a:t>PLAYER</a:t>
            </a:r>
          </a:p>
        </p:txBody>
      </p:sp>
      <p:sp>
        <p:nvSpPr>
          <p:cNvPr id="44" name="Oval 43"/>
          <p:cNvSpPr/>
          <p:nvPr/>
        </p:nvSpPr>
        <p:spPr>
          <a:xfrm>
            <a:off x="9262872" y="4965192"/>
            <a:ext cx="118872" cy="118872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55480" y="4965192"/>
            <a:ext cx="118872" cy="118872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848088" y="4965192"/>
            <a:ext cx="118872" cy="118872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140696" y="4965192"/>
            <a:ext cx="118872" cy="118872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433304" y="4965192"/>
            <a:ext cx="118872" cy="118872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725912" y="4965192"/>
            <a:ext cx="118872" cy="118872"/>
          </a:xfrm>
          <a:prstGeom prst="ellipse">
            <a:avLst/>
          </a:prstGeom>
          <a:solidFill>
            <a:srgbClr val="32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55096" y="4956048"/>
            <a:ext cx="3931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 spc="35">
                <a:solidFill>
                  <a:srgbClr val="728277"/>
                </a:solidFill>
                <a:latin typeface="Aptos"/>
              </a:rPr>
              <a:t>EXIT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788152"/>
            <a:ext cx="10287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EBDD"/>
                </a:solidFill>
                <a:latin typeface="Aptos"/>
              </a:rPr>
              <a:t>If the selected solver can't find a safe route, the game asks you to try another.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85216" y="651052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728277"/>
                </a:solidFill>
                <a:latin typeface="Aptos"/>
              </a:rPr>
              <a:t>LAST LIGHT   /   ZOMBIE ESCAPE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34472" y="6501384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28277"/>
                </a:solidFill>
                <a:latin typeface="Aptos"/>
              </a:rPr>
              <a:t>04   /  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C5F66A"/>
                </a:solidFill>
                <a:latin typeface="Aptos"/>
              </a:rPr>
              <a:t>04  /  ZOMBIE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EBDD"/>
                </a:solidFill>
                <a:latin typeface="Aptos Display"/>
              </a:rPr>
              <a:t>THE HORDE CHASES. IT DOESN'T TELEPORT.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62456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4A9"/>
                </a:solidFill>
                <a:latin typeface="Aptos"/>
              </a:rPr>
              <a:t>Pursuit is updated after every turn—and constrained by the same maze the player must read.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5486400" cy="4160520"/>
          </a:xfrm>
          <a:prstGeom prst="roundRect">
            <a:avLst>
              <a:gd name="adj" fmla="val 12000"/>
            </a:avLst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1832" y="2365802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84069" y="2365802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6306" y="2365802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68543" y="2365802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10780" y="2365802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3017" y="2365802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95254" y="2365802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37491" y="2365802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9728" y="2365802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21965" y="2365802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64202" y="2365802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" y="2808039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4069" y="2808039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6306" y="2808039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68543" y="2808039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10780" y="2808039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53017" y="2808039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95254" y="2808039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37491" y="2808039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79728" y="2808039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21965" y="2808039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64202" y="2808039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" y="3250276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84069" y="3250276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6306" y="3250276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68543" y="3250276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10780" y="3250276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53017" y="3250276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95254" y="3250276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7491" y="3250276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79728" y="3250276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21965" y="3250276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64202" y="3250276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1832" y="3692513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384069" y="3692513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6306" y="3692513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68543" y="3692513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10780" y="3692513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153017" y="3692513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95254" y="3692513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37491" y="3692513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79728" y="3692513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21965" y="3692513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64202" y="3692513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41832" y="4134750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384069" y="4134750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26306" y="4134750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68543" y="4134750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10780" y="4134750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53017" y="4134750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95254" y="4134750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37491" y="4134750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79728" y="4134750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21965" y="4134750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4202" y="4134750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41832" y="4576987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384069" y="4576987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826306" y="4576987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268543" y="4576987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10780" y="4576987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153017" y="4576987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595254" y="4576987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037491" y="4576987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479728" y="4576987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921965" y="4576987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64202" y="4576987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41832" y="5019224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384069" y="5019224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26306" y="5019224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268543" y="5019224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710780" y="5019224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153017" y="5019224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595254" y="5019224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037491" y="5019224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479728" y="5019224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921965" y="5019224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364202" y="5019224"/>
            <a:ext cx="442237" cy="442237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941832" y="2365802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41832" y="2365802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384069" y="2365802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384069" y="2365802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826306" y="2365802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268543" y="2365802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710780" y="2365802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153017" y="2365802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595254" y="2365802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595254" y="2365802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037491" y="2365802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037491" y="2365802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479728" y="2365802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921965" y="2365802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364202" y="2365802"/>
            <a:ext cx="44223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806440" y="2365802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1832" y="2808039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384069" y="2808039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384069" y="2808039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268543" y="2808039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268543" y="2808039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2710780" y="2808039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595254" y="2808039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4479728" y="2808039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4479728" y="2808039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4921965" y="2808039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5364202" y="2808039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5806440" y="2808039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41832" y="3250276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384069" y="3250276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826306" y="3250276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268543" y="3250276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153017" y="3250276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3595254" y="3250276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921965" y="3250276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806440" y="3250276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41832" y="3692513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1384069" y="3692513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2710780" y="3692513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153017" y="3692513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595254" y="3692513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037491" y="3692513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479728" y="3692513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5364202" y="3692513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5806440" y="3692513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41832" y="4134750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41832" y="4134750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384069" y="4134750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826306" y="4134750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268543" y="4134750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710780" y="4134750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037491" y="4134750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4037491" y="4134750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479728" y="4134750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921965" y="4134750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5806440" y="4134750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41832" y="4576987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384069" y="4576987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384069" y="4576987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268543" y="4576987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2710780" y="4576987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53017" y="4576987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595254" y="4576987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037491" y="4576987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4479728" y="4576987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4921965" y="4576987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4921965" y="4576987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5806440" y="4576987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941832" y="5019224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941832" y="5461461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384069" y="5019224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384069" y="5461461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826306" y="5461461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2268543" y="5461461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2710780" y="5461461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3153017" y="5019224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3153017" y="5461461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3595254" y="5461461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037491" y="5019224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037491" y="5461461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479728" y="5019224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4479728" y="5461461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4921965" y="5461461"/>
            <a:ext cx="442237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5364202" y="5019224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5806440" y="5019224"/>
            <a:ext cx="0" cy="442237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5364202" y="5461461"/>
            <a:ext cx="442238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162950" y="2586920"/>
            <a:ext cx="0" cy="442237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162950" y="3029157"/>
            <a:ext cx="0" cy="442237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162950" y="3471394"/>
            <a:ext cx="0" cy="442237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162950" y="3913631"/>
            <a:ext cx="442237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605187" y="3913631"/>
            <a:ext cx="442237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2047424" y="3913631"/>
            <a:ext cx="442237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2489661" y="3913631"/>
            <a:ext cx="0" cy="442238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2489661" y="4355869"/>
            <a:ext cx="0" cy="442237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2489661" y="4798106"/>
            <a:ext cx="442237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2931898" y="4798106"/>
            <a:ext cx="442238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3374136" y="4798106"/>
            <a:ext cx="442237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3816373" y="4798106"/>
            <a:ext cx="0" cy="442237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3816373" y="5240343"/>
            <a:ext cx="442237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4258610" y="5240343"/>
            <a:ext cx="442237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4700847" y="5240343"/>
            <a:ext cx="442237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5143084" y="4798106"/>
            <a:ext cx="0" cy="442237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5143084" y="4798106"/>
            <a:ext cx="442237" cy="0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5585321" y="4798106"/>
            <a:ext cx="0" cy="442237"/>
          </a:xfrm>
          <a:prstGeom prst="line">
            <a:avLst/>
          </a:prstGeom>
          <a:ln w="25400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2414481" y="2953977"/>
            <a:ext cx="150360" cy="150360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183429" y="4280688"/>
            <a:ext cx="150360" cy="150360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625666" y="2953977"/>
            <a:ext cx="150360" cy="150360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005990" y="2892064"/>
            <a:ext cx="274186" cy="274186"/>
          </a:xfrm>
          <a:prstGeom prst="ellipse">
            <a:avLst/>
          </a:prstGeom>
          <a:solidFill>
            <a:srgbClr val="F26861"/>
          </a:solidFill>
          <a:ln w="1651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994900" y="2418870"/>
            <a:ext cx="336100" cy="336100"/>
          </a:xfrm>
          <a:prstGeom prst="ellipse">
            <a:avLst/>
          </a:prstGeom>
          <a:solidFill>
            <a:srgbClr val="C5F66A"/>
          </a:solidFill>
          <a:ln w="1905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A100E"/>
                </a:solidFill>
                <a:latin typeface="Aptos"/>
              </a:rPr>
              <a:t>P</a:t>
            </a:r>
          </a:p>
        </p:txBody>
      </p:sp>
      <p:sp>
        <p:nvSpPr>
          <p:cNvPr id="193" name="Oval 192"/>
          <p:cNvSpPr/>
          <p:nvPr/>
        </p:nvSpPr>
        <p:spPr>
          <a:xfrm>
            <a:off x="5417271" y="5072293"/>
            <a:ext cx="336100" cy="336100"/>
          </a:xfrm>
          <a:prstGeom prst="ellipse">
            <a:avLst/>
          </a:prstGeom>
          <a:solidFill>
            <a:srgbClr val="FF9B68"/>
          </a:solidFill>
          <a:ln w="1905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A100E"/>
                </a:solidFill>
                <a:latin typeface="Aptos"/>
              </a:rPr>
              <a:t>H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288536" y="5797296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1" i="0" spc="45">
                <a:solidFill>
                  <a:srgbClr val="FF9B68"/>
                </a:solidFill>
                <a:latin typeface="Aptos"/>
              </a:rPr>
              <a:t>SAFE HOUSE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6473952" y="1874519"/>
            <a:ext cx="5056632" cy="4160520"/>
          </a:xfrm>
          <a:prstGeom prst="roundRect">
            <a:avLst>
              <a:gd name="adj" fmla="val 12000"/>
            </a:avLst>
          </a:prstGeom>
          <a:solidFill>
            <a:srgbClr val="18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793992" y="2212848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C5F66A"/>
                </a:solidFill>
                <a:latin typeface="Aptos"/>
              </a:rPr>
              <a:t>THE PURSUIT LOGIC</a:t>
            </a:r>
          </a:p>
        </p:txBody>
      </p:sp>
      <p:sp>
        <p:nvSpPr>
          <p:cNvPr id="197" name="Oval 196"/>
          <p:cNvSpPr/>
          <p:nvPr/>
        </p:nvSpPr>
        <p:spPr>
          <a:xfrm>
            <a:off x="6793992" y="2734056"/>
            <a:ext cx="109728" cy="109728"/>
          </a:xfrm>
          <a:prstGeom prst="ellipse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022592" y="2651760"/>
            <a:ext cx="4087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EBDD"/>
                </a:solidFill>
                <a:latin typeface="Aptos"/>
              </a:rPr>
              <a:t>1   Recalculate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022592" y="2962656"/>
            <a:ext cx="404164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Find a path toward the player through open cells.</a:t>
            </a:r>
          </a:p>
        </p:txBody>
      </p:sp>
      <p:sp>
        <p:nvSpPr>
          <p:cNvPr id="200" name="Oval 199"/>
          <p:cNvSpPr/>
          <p:nvPr/>
        </p:nvSpPr>
        <p:spPr>
          <a:xfrm>
            <a:off x="6793992" y="3739896"/>
            <a:ext cx="109728" cy="109728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022592" y="3657600"/>
            <a:ext cx="4087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EBDD"/>
                </a:solidFill>
                <a:latin typeface="Aptos"/>
              </a:rPr>
              <a:t>2   Respect the rules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022592" y="3968496"/>
            <a:ext cx="404164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Walls block movement. Bombs, the safe house and other zombies constrain it.</a:t>
            </a:r>
          </a:p>
        </p:txBody>
      </p:sp>
      <p:sp>
        <p:nvSpPr>
          <p:cNvPr id="203" name="Oval 202"/>
          <p:cNvSpPr/>
          <p:nvPr/>
        </p:nvSpPr>
        <p:spPr>
          <a:xfrm>
            <a:off x="6793992" y="4745736"/>
            <a:ext cx="109728" cy="109728"/>
          </a:xfrm>
          <a:prstGeom prst="ellipse">
            <a:avLst/>
          </a:prstGeom>
          <a:solidFill>
            <a:srgbClr val="F268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022592" y="4663440"/>
            <a:ext cx="4087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EBDD"/>
                </a:solidFill>
                <a:latin typeface="Aptos"/>
              </a:rPr>
              <a:t>3   Stay behind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022592" y="4974336"/>
            <a:ext cx="404164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A zombie won't pass you toward the house. It can retreat or seek another trailing tile.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585216" y="651052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728277"/>
                </a:solidFill>
                <a:latin typeface="Aptos"/>
              </a:rPr>
              <a:t>LAST LIGHT   /   ZOMBIE ESCAPE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634472" y="6501384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28277"/>
                </a:solidFill>
                <a:latin typeface="Aptos"/>
              </a:rPr>
              <a:t>05   /  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C5F66A"/>
                </a:solidFill>
                <a:latin typeface="Aptos"/>
              </a:rPr>
              <a:t>05  /  THE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EBDD"/>
                </a:solidFill>
                <a:latin typeface="Aptos Display"/>
              </a:rPr>
              <a:t>EVERY TURN IS A SMALL SURVIVAL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62456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4A9"/>
                </a:solidFill>
                <a:latin typeface="Aptos"/>
              </a:rPr>
              <a:t>One player action triggers a chain of checks, movement and consequences.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76272"/>
            <a:ext cx="2450592" cy="1481328"/>
          </a:xfrm>
          <a:prstGeom prst="roundRect">
            <a:avLst>
              <a:gd name="adj" fmla="val 12000"/>
            </a:avLst>
          </a:prstGeom>
          <a:solidFill>
            <a:srgbClr val="1D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404872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C5F66A"/>
                </a:solidFill>
                <a:latin typeface="Aptos"/>
              </a:rPr>
              <a:t>STEP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614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EBDD"/>
                </a:solidFill>
                <a:latin typeface="Aptos Display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27248"/>
            <a:ext cx="197510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Move or wait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45536" y="2907792"/>
            <a:ext cx="274320" cy="0"/>
          </a:xfrm>
          <a:prstGeom prst="line">
            <a:avLst/>
          </a:prstGeom>
          <a:ln w="25400">
            <a:solidFill>
              <a:srgbClr val="7DA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282696" y="2825496"/>
            <a:ext cx="155448" cy="155448"/>
          </a:xfrm>
          <a:prstGeom prst="ellipse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9584" y="2176272"/>
            <a:ext cx="2450592" cy="1481328"/>
          </a:xfrm>
          <a:prstGeom prst="roundRect">
            <a:avLst>
              <a:gd name="adj" fmla="val 12000"/>
            </a:avLst>
          </a:prstGeom>
          <a:solidFill>
            <a:srgbClr val="1D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404872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71BAE8"/>
                </a:solidFill>
                <a:latin typeface="Aptos"/>
              </a:rP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7614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EBDD"/>
                </a:solidFill>
                <a:latin typeface="Aptos Display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127248"/>
            <a:ext cx="197510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Wall? Bomb? Zombie?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16752" y="2907792"/>
            <a:ext cx="274320" cy="0"/>
          </a:xfrm>
          <a:prstGeom prst="line">
            <a:avLst/>
          </a:prstGeom>
          <a:ln w="25400">
            <a:solidFill>
              <a:srgbClr val="7DA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153912" y="2825496"/>
            <a:ext cx="155448" cy="155448"/>
          </a:xfrm>
          <a:prstGeom prst="ellipse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2176272"/>
            <a:ext cx="2450592" cy="1481328"/>
          </a:xfrm>
          <a:prstGeom prst="roundRect">
            <a:avLst>
              <a:gd name="adj" fmla="val 12000"/>
            </a:avLst>
          </a:prstGeom>
          <a:solidFill>
            <a:srgbClr val="1D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2404872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FF9B68"/>
                </a:solidFill>
                <a:latin typeface="Aptos"/>
              </a:rPr>
              <a:t>STEP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27614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EBDD"/>
                </a:solidFill>
                <a:latin typeface="Aptos Display"/>
              </a:rPr>
              <a:t>REACT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3127248"/>
            <a:ext cx="197510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The horde moves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87968" y="2907792"/>
            <a:ext cx="274320" cy="0"/>
          </a:xfrm>
          <a:prstGeom prst="line">
            <a:avLst/>
          </a:prstGeom>
          <a:ln w="25400">
            <a:solidFill>
              <a:srgbClr val="7DAD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025128" y="2825496"/>
            <a:ext cx="155448" cy="155448"/>
          </a:xfrm>
          <a:prstGeom prst="ellipse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72016" y="2176272"/>
            <a:ext cx="2450592" cy="1481328"/>
          </a:xfrm>
          <a:prstGeom prst="roundRect">
            <a:avLst>
              <a:gd name="adj" fmla="val 12000"/>
            </a:avLst>
          </a:prstGeom>
          <a:solidFill>
            <a:srgbClr val="1D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2404872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F26861"/>
                </a:solidFill>
                <a:latin typeface="Aptos"/>
              </a:rPr>
              <a:t>STEP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276148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EBDD"/>
                </a:solidFill>
                <a:latin typeface="Aptos Display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3127248"/>
            <a:ext cx="197510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Escape—or game over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142232"/>
            <a:ext cx="5230368" cy="1353312"/>
          </a:xfrm>
          <a:prstGeom prst="roundRect">
            <a:avLst>
              <a:gd name="adj" fmla="val 12000"/>
            </a:avLst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416552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C5F66A"/>
                </a:solidFill>
                <a:latin typeface="Aptos"/>
              </a:rPr>
              <a:t>THE REWARD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754880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5F66A"/>
                </a:solidFill>
                <a:latin typeface="Aptos Display"/>
              </a:rPr>
              <a:t>500 × level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384" y="4773168"/>
            <a:ext cx="2468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Score bonus on safe-house arrival.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4142232"/>
            <a:ext cx="5321808" cy="1353312"/>
          </a:xfrm>
          <a:prstGeom prst="roundRect">
            <a:avLst>
              <a:gd name="adj" fmla="val 12000"/>
            </a:avLst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441655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FF9B68"/>
                </a:solidFill>
                <a:latin typeface="Aptos"/>
              </a:rPr>
              <a:t>PLAYER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77316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EBDD"/>
                </a:solidFill>
                <a:latin typeface="Aptos"/>
              </a:rPr>
              <a:t>Move  ·  Wait  ·  Pause  ·  Restart  · 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79592"/>
            <a:ext cx="10287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4A9"/>
                </a:solidFill>
                <a:latin typeface="Aptos"/>
              </a:rPr>
              <a:t>One wrong tile can end the run. A visible route is guidance—not immunity.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5216" y="651052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728277"/>
                </a:solidFill>
                <a:latin typeface="Aptos"/>
              </a:rPr>
              <a:t>LAST LIGHT   /   ZOMBIE ESCAPE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34472" y="6501384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28277"/>
                </a:solidFill>
                <a:latin typeface="Aptos"/>
              </a:rPr>
              <a:t>06   /  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C5F66A"/>
                </a:solidFill>
                <a:latin typeface="Aptos"/>
              </a:rPr>
              <a:t>06  / 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2EBDD"/>
                </a:solidFill>
                <a:latin typeface="Aptos Display"/>
              </a:rPr>
              <a:t>YOUR CAMPAIGN REMEMBERS THE WAY 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62456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4A9"/>
                </a:solidFill>
                <a:latin typeface="Aptos"/>
              </a:rPr>
              <a:t>The local save keeps your progression consistent when you return.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965960"/>
            <a:ext cx="5029200" cy="4005072"/>
          </a:xfrm>
          <a:prstGeom prst="roundRect">
            <a:avLst>
              <a:gd name="adj" fmla="val 12000"/>
            </a:avLst>
          </a:prstGeom>
          <a:solidFill>
            <a:srgbClr val="1D2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30428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C5F66A"/>
                </a:solidFill>
                <a:latin typeface="Aptos"/>
              </a:rPr>
              <a:t>SAVED BETWEEN VISITS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9260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70">
                <a:solidFill>
                  <a:srgbClr val="728277"/>
                </a:solidFill>
                <a:latin typeface="Aptos"/>
              </a:rPr>
              <a:t>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29260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70">
                <a:solidFill>
                  <a:srgbClr val="728277"/>
                </a:solidFill>
                <a:latin typeface="Aptos"/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9260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70">
                <a:solidFill>
                  <a:srgbClr val="728277"/>
                </a:solidFill>
                <a:latin typeface="Aptos"/>
              </a:rPr>
              <a:t>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2618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5F66A"/>
                </a:solidFill>
                <a:latin typeface="Aptos Display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3218688"/>
            <a:ext cx="12618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9B68"/>
                </a:solidFill>
                <a:latin typeface="Aptos Display"/>
              </a:rPr>
              <a:t>3,500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3218688"/>
            <a:ext cx="12618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71BAE8"/>
                </a:solidFill>
                <a:latin typeface="Aptos Display"/>
              </a:rPr>
              <a:t>••••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1832" y="4041648"/>
            <a:ext cx="4343400" cy="0"/>
          </a:xfrm>
          <a:prstGeom prst="line">
            <a:avLst/>
          </a:prstGeom>
          <a:ln w="10160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0976" y="4315968"/>
            <a:ext cx="4251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EBDD"/>
                </a:solidFill>
                <a:latin typeface="Aptos"/>
              </a:rPr>
              <a:t>Rebuild the same level from the same seed.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736592"/>
            <a:ext cx="42976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4A9"/>
                </a:solidFill>
                <a:latin typeface="Aptos"/>
              </a:rPr>
              <a:t>The maze stays familiar; the player and zombies reset to the level start.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1965960"/>
            <a:ext cx="5504688" cy="1856231"/>
          </a:xfrm>
          <a:prstGeom prst="roundRect">
            <a:avLst>
              <a:gd name="adj" fmla="val 12000"/>
            </a:avLst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286000"/>
            <a:ext cx="2423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71BAE8"/>
                </a:solidFill>
                <a:latin typeface="Aptos"/>
              </a:rPr>
              <a:t>LOCAL SQLITE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770632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2EBDD"/>
                </a:solidFill>
                <a:latin typeface="Cascadia Code"/>
              </a:rPr>
              <a:t>%LOCALAPPDATA%\ZombieEscape\progress.sqlite3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246120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A compact local-machine save. No account or cloud sync.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16752" y="4096512"/>
            <a:ext cx="5504688" cy="1874519"/>
          </a:xfrm>
          <a:prstGeom prst="roundRect">
            <a:avLst>
              <a:gd name="adj" fmla="val 12000"/>
            </a:avLst>
          </a:prstGeom>
          <a:solidFill>
            <a:srgbClr val="18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4416552"/>
            <a:ext cx="310896" cy="310896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4165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100E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43484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FF9B68"/>
                </a:solidFill>
                <a:latin typeface="Aptos"/>
              </a:rPr>
              <a:t>DEPLOYMENT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4892040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2EBDD"/>
                </a:solidFill>
                <a:latin typeface="Aptos"/>
              </a:rPr>
              <a:t>One server, one shared save.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5285232"/>
            <a:ext cx="45262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4A9"/>
                </a:solidFill>
                <a:latin typeface="Aptos"/>
              </a:rPr>
              <a:t>This is not per-account progress. Visitors to one hosted instance share its local database.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8890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5216" y="651052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5">
                <a:solidFill>
                  <a:srgbClr val="728277"/>
                </a:solidFill>
                <a:latin typeface="Aptos"/>
              </a:rPr>
              <a:t>LAST LIGHT   /   ZOMBIE ESCAPE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4472" y="6501384"/>
            <a:ext cx="9875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28277"/>
                </a:solidFill>
                <a:latin typeface="Aptos"/>
              </a:rPr>
              <a:t>07   /  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5F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6656" y="621792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85">
                <a:solidFill>
                  <a:srgbClr val="C5F66A"/>
                </a:solidFill>
                <a:latin typeface="Aptos"/>
              </a:rPr>
              <a:t>THE RUN GETS HARDER. THE CHOICE IS YOURS.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06424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2EBDD"/>
                </a:solidFill>
                <a:latin typeface="Aptos Display"/>
              </a:rPr>
              <a:t>ONE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64792"/>
            <a:ext cx="566928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700" b="1" i="0">
                <a:solidFill>
                  <a:srgbClr val="C5F66A"/>
                </a:solidFill>
                <a:latin typeface="Aptos Display"/>
              </a:rPr>
              <a:t>WAY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743200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8B4A9"/>
                </a:solidFill>
                <a:latin typeface="Aptos"/>
              </a:rPr>
              <a:t>Build a route. Read the chase. Get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7376" y="11837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01226" y="11837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5076" y="11837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28926" y="11837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92776" y="11837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56626" y="11837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20477" y="11837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84327" y="11837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48177" y="11837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12027" y="11837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075877" y="11837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37376" y="16475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1226" y="16475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5076" y="16475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28926" y="16475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92776" y="16475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56626" y="16475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20477" y="16475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84327" y="16475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48177" y="16475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12027" y="16475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075877" y="16475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37376" y="21114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01226" y="21114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65076" y="21114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28926" y="21114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92776" y="21114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56626" y="21114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20477" y="21114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84327" y="21114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48177" y="21114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12027" y="21114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075877" y="211143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37376" y="25752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01226" y="25752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65076" y="25752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28926" y="25752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92776" y="25752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56626" y="25752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20477" y="25752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84327" y="25752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148177" y="25752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612027" y="25752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075877" y="2575282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37376" y="30391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01226" y="30391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65076" y="30391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828926" y="30391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92776" y="30391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56626" y="30391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20477" y="30391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84327" y="30391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148177" y="30391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612027" y="30391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75877" y="30391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437376" y="350298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901226" y="350298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65076" y="350298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828926" y="350298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92776" y="350298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756626" y="350298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20477" y="350298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684327" y="350298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148177" y="350298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612027" y="350298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075877" y="350298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37376" y="39668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01226" y="39668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365076" y="39668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828926" y="39668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292776" y="39668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56626" y="39668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220477" y="39668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684327" y="39668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148177" y="39668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612027" y="39668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075877" y="3966833"/>
            <a:ext cx="463850" cy="463850"/>
          </a:xfrm>
          <a:prstGeom prst="rect">
            <a:avLst/>
          </a:prstGeom>
          <a:solidFill>
            <a:srgbClr val="121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6437376" y="1183732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437376" y="118373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901226" y="118373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365076" y="118373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828926" y="1183732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7828926" y="118373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292776" y="118373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56626" y="1183732"/>
            <a:ext cx="46385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220477" y="118373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684327" y="118373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148177" y="118373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612027" y="1183732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612027" y="118373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1075877" y="1183732"/>
            <a:ext cx="46385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1539728" y="1183732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437376" y="1647582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437376" y="164758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901226" y="164758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365076" y="1647582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828926" y="164758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292776" y="164758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756626" y="1647582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220477" y="164758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84327" y="1647582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539728" y="1647582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6437376" y="2111432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901226" y="211143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65076" y="211143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8756626" y="2111432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8756626" y="2111432"/>
            <a:ext cx="46385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220477" y="211143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684327" y="2111432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10612027" y="211143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1075877" y="2111432"/>
            <a:ext cx="46385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11539728" y="2111432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437376" y="2575282"/>
            <a:ext cx="0" cy="46385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6901226" y="257528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365076" y="2575282"/>
            <a:ext cx="0" cy="46385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292776" y="2575282"/>
            <a:ext cx="0" cy="46385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220477" y="2575282"/>
            <a:ext cx="0" cy="46385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0148177" y="257528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612027" y="2575282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11075877" y="2575282"/>
            <a:ext cx="0" cy="46385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1539728" y="2575282"/>
            <a:ext cx="0" cy="463851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6437376" y="303913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6437376" y="303913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6901226" y="303913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7365076" y="303913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365076" y="303913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292776" y="303913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756626" y="303913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756626" y="3039133"/>
            <a:ext cx="46385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9684327" y="303913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148177" y="303913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612027" y="303913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612027" y="303913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1539728" y="303913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6437376" y="350298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365076" y="350298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828926" y="350298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28926" y="350298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8756626" y="350298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9220477" y="350298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9684327" y="350298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612027" y="350298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1075877" y="350298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1539728" y="350298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6437376" y="396683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6437376" y="443068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6901226" y="443068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7365076" y="396683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7365076" y="443068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7828926" y="396683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7828926" y="443068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292776" y="396683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292776" y="443068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756626" y="4430683"/>
            <a:ext cx="46385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9220477" y="443068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9684327" y="396683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9684327" y="443068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148177" y="396683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148177" y="443068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612027" y="4430683"/>
            <a:ext cx="463850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1539728" y="3966833"/>
            <a:ext cx="0" cy="46385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1075877" y="4430683"/>
            <a:ext cx="463851" cy="0"/>
          </a:xfrm>
          <a:prstGeom prst="line">
            <a:avLst/>
          </a:prstGeom>
          <a:ln w="18415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6669301" y="1415657"/>
            <a:ext cx="463850" cy="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7133151" y="1415657"/>
            <a:ext cx="463850" cy="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7597001" y="1415657"/>
            <a:ext cx="0" cy="46385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7597001" y="1879507"/>
            <a:ext cx="463850" cy="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8060851" y="1879507"/>
            <a:ext cx="0" cy="46385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8060851" y="2343357"/>
            <a:ext cx="0" cy="463851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8060851" y="2807208"/>
            <a:ext cx="0" cy="46385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H="1">
            <a:off x="7597001" y="3271058"/>
            <a:ext cx="463850" cy="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7597001" y="3271058"/>
            <a:ext cx="0" cy="46385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7597001" y="3734908"/>
            <a:ext cx="0" cy="46385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7597001" y="4198758"/>
            <a:ext cx="463850" cy="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8060851" y="4198758"/>
            <a:ext cx="463850" cy="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8524701" y="4198758"/>
            <a:ext cx="463851" cy="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8988552" y="4198758"/>
            <a:ext cx="463850" cy="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9452402" y="4198758"/>
            <a:ext cx="463850" cy="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9916252" y="4198758"/>
            <a:ext cx="463850" cy="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0380102" y="4198758"/>
            <a:ext cx="463850" cy="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10843952" y="4198758"/>
            <a:ext cx="463850" cy="0"/>
          </a:xfrm>
          <a:prstGeom prst="line">
            <a:avLst/>
          </a:prstGeom>
          <a:ln w="25769">
            <a:solidFill>
              <a:srgbClr val="C5F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Oval 186"/>
          <p:cNvSpPr/>
          <p:nvPr/>
        </p:nvSpPr>
        <p:spPr>
          <a:xfrm>
            <a:off x="9837397" y="3192203"/>
            <a:ext cx="157709" cy="157709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0301248" y="1800653"/>
            <a:ext cx="157709" cy="157709"/>
          </a:xfrm>
          <a:prstGeom prst="ellipse">
            <a:avLst/>
          </a:prstGeom>
          <a:solidFill>
            <a:srgbClr val="FF9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0700159" y="1735714"/>
            <a:ext cx="287587" cy="287587"/>
          </a:xfrm>
          <a:prstGeom prst="ellipse">
            <a:avLst/>
          </a:prstGeom>
          <a:solidFill>
            <a:srgbClr val="F26861"/>
          </a:solidFill>
          <a:ln w="1651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6493038" y="1239394"/>
            <a:ext cx="352526" cy="352526"/>
          </a:xfrm>
          <a:prstGeom prst="ellipse">
            <a:avLst/>
          </a:prstGeom>
          <a:solidFill>
            <a:srgbClr val="C5F66A"/>
          </a:solidFill>
          <a:ln w="1905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A100E"/>
                </a:solidFill>
                <a:latin typeface="Aptos"/>
              </a:rPr>
              <a:t>P</a:t>
            </a:r>
          </a:p>
        </p:txBody>
      </p:sp>
      <p:sp>
        <p:nvSpPr>
          <p:cNvPr id="191" name="Oval 190"/>
          <p:cNvSpPr/>
          <p:nvPr/>
        </p:nvSpPr>
        <p:spPr>
          <a:xfrm>
            <a:off x="11131539" y="4022495"/>
            <a:ext cx="352526" cy="352526"/>
          </a:xfrm>
          <a:prstGeom prst="ellipse">
            <a:avLst/>
          </a:prstGeom>
          <a:solidFill>
            <a:srgbClr val="FF9B68"/>
          </a:solidFill>
          <a:ln w="19050">
            <a:solidFill>
              <a:srgbClr val="0A1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0A100E"/>
                </a:solidFill>
                <a:latin typeface="Aptos"/>
              </a:rPr>
              <a:t>H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94944" y="3822191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2EBDD"/>
                </a:solidFill>
                <a:latin typeface="Aptos Display"/>
              </a:rPr>
              <a:t>5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94944" y="4251959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5">
                <a:solidFill>
                  <a:srgbClr val="728277"/>
                </a:solidFill>
                <a:latin typeface="Aptos"/>
              </a:rPr>
              <a:t>BIOMES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392424" y="3822191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9B68"/>
                </a:solidFill>
                <a:latin typeface="Aptos Display"/>
              </a:rPr>
              <a:t>5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392424" y="4251959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5">
                <a:solidFill>
                  <a:srgbClr val="728277"/>
                </a:solidFill>
                <a:latin typeface="Aptos"/>
              </a:rPr>
              <a:t>ZOMBIES MAX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94944" y="4800600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2EBDD"/>
                </a:solidFill>
                <a:latin typeface="Aptos Display"/>
              </a:rPr>
              <a:t>8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94944" y="5230368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5">
                <a:solidFill>
                  <a:srgbClr val="728277"/>
                </a:solidFill>
                <a:latin typeface="Aptos"/>
              </a:rPr>
              <a:t>BOMBS MAX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392424" y="4800600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2EBDD"/>
                </a:solidFill>
                <a:latin typeface="Aptos Display"/>
              </a:rPr>
              <a:t>23 × 17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392424" y="5230368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5">
                <a:solidFill>
                  <a:srgbClr val="728277"/>
                </a:solidFill>
                <a:latin typeface="Aptos"/>
              </a:rPr>
              <a:t>MAX MAZE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694944" y="5971032"/>
            <a:ext cx="10808208" cy="0"/>
          </a:xfrm>
          <a:prstGeom prst="line">
            <a:avLst/>
          </a:prstGeom>
          <a:ln w="10160">
            <a:solidFill>
              <a:srgbClr val="324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>
            <a:off x="713232" y="6099048"/>
            <a:ext cx="82296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65">
                <a:solidFill>
                  <a:srgbClr val="C5F66A"/>
                </a:solidFill>
                <a:latin typeface="Aptos"/>
              </a:rPr>
              <a:t>CHOOSE A ROUTE.   KEEP YOUR NERVE.   GET HOME.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972800" y="6510528"/>
            <a:ext cx="5029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2827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LAST LIGHT | Zombie Escape: Find the Safe House</dc:title>
  <dc:subject>A game-design showcase of a procedural survival maze</dc:subject>
  <dc:creator>Zombie Escape project</dc:creator>
  <cp:keywords>Zombie Escape, Python, Solara, A*, BFS, DFS, game design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